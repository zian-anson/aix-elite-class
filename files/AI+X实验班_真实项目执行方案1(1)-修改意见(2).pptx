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AI+X实验班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真实项目执行方案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1F5F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混合协作版 v3.1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7772400" cy="914400"/>
          </a:xfrm>
          <a:prstGeom prst="rect">
            <a:avLst/>
          </a:prstGeom>
          <a:solidFill>
            <a:srgbClr val="FFFFFF">
              <a:alpha val="15000"/>
            </a:srgbClr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977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负责小组：</a:t>
            </a:r>
            <a:r>
              <a:rPr lang="en-US" sz="1300" dirty="0">
                <a:solidFill>
                  <a:srgbClr val="F1F5F9"/>
                </a:solidFill>
              </a:rPr>
              <a:t>项目协同组（牵头），学习推进组、成果沉淀组、文化传播组协同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核心目标：</a:t>
            </a:r>
            <a:r>
              <a:rPr lang="en-US" sz="1300" dirty="0">
                <a:solidFill>
                  <a:srgbClr val="F1F5F9"/>
                </a:solidFill>
              </a:rPr>
              <a:t>确保班级在6月17日前，完成至少25个达到L2（单点改进）及以上水平的真实项目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8006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1F5F9"/>
                </a:solidFill>
              </a:rPr>
              <a:t>2026年5月9日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一、总体时间线与核心里程碑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384048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459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核心原则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200" dirty="0">
                <a:solidFill>
                  <a:srgbClr val="334155"/>
                </a:solidFill>
              </a:rPr>
              <a:t>基于现有项目材料自主选择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200" dirty="0">
                <a:solidFill>
                  <a:srgbClr val="334155"/>
                </a:solidFill>
              </a:rPr>
              <a:t>支持单人项目或≤3人小组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sym typeface="+mn-ea"/>
              </a:rPr>
              <a:t>✓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每位成员至少担任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1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个项目负责人</a:t>
            </a:r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200" dirty="0">
                <a:solidFill>
                  <a:srgbClr val="334155"/>
                </a:solidFill>
              </a:rPr>
              <a:t>鼓励交叉协作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200" dirty="0">
                <a:solidFill>
                  <a:srgbClr val="334155"/>
                </a:solidFill>
              </a:rPr>
              <a:t>强调责任明确、过程留痕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182880" cy="18288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8" name="Shape 6"/>
          <p:cNvSpPr/>
          <p:nvPr/>
        </p:nvSpPr>
        <p:spPr>
          <a:xfrm>
            <a:off x="4663440" y="10972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937760" y="86868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5月11日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8686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项目池公布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600200"/>
            <a:ext cx="182880" cy="18288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2" name="Shape 10"/>
          <p:cNvSpPr/>
          <p:nvPr/>
        </p:nvSpPr>
        <p:spPr>
          <a:xfrm>
            <a:off x="4663440" y="17830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937760" y="155448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5月12日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15544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334155"/>
                </a:solidFill>
              </a:rPr>
              <a:t>意向填报截止</a:t>
            </a:r>
            <a:r>
              <a:rPr lang="en-US" sz="1100" dirty="0">
                <a:solidFill>
                  <a:srgbClr val="334155"/>
                </a:solidFill>
              </a:rPr>
              <a:t>(5</a:t>
            </a:r>
            <a:r>
              <a:rPr lang="zh-CN" altLang="en-US" sz="1100" dirty="0">
                <a:solidFill>
                  <a:srgbClr val="334155"/>
                </a:solidFill>
              </a:rPr>
              <a:t>月</a:t>
            </a:r>
            <a:r>
              <a:rPr lang="en-US" altLang="zh-CN" sz="1100" dirty="0">
                <a:solidFill>
                  <a:srgbClr val="334155"/>
                </a:solidFill>
              </a:rPr>
              <a:t>12</a:t>
            </a:r>
            <a:r>
              <a:rPr lang="zh-CN" altLang="en-US" sz="1100" dirty="0">
                <a:solidFill>
                  <a:srgbClr val="334155"/>
                </a:solidFill>
              </a:rPr>
              <a:t>日</a:t>
            </a:r>
            <a:r>
              <a:rPr lang="en-US" sz="1100" dirty="0">
                <a:solidFill>
                  <a:srgbClr val="334155"/>
                </a:solidFill>
              </a:rPr>
              <a:t>24</a:t>
            </a:r>
            <a:r>
              <a:rPr lang="zh-CN" altLang="en-US" sz="1100" dirty="0">
                <a:solidFill>
                  <a:srgbClr val="334155"/>
                </a:solidFill>
              </a:rPr>
              <a:t>点</a:t>
            </a:r>
            <a:r>
              <a:rPr lang="en-US" sz="1100" dirty="0">
                <a:solidFill>
                  <a:srgbClr val="334155"/>
                </a:solidFill>
              </a:rPr>
              <a:t>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286000"/>
            <a:ext cx="182880" cy="18288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6" name="Shape 14"/>
          <p:cNvSpPr/>
          <p:nvPr/>
        </p:nvSpPr>
        <p:spPr>
          <a:xfrm>
            <a:off x="4663440" y="24688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937760" y="224028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5月15日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2402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最终名单锁定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971800"/>
            <a:ext cx="182880" cy="18288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20" name="Shape 18"/>
          <p:cNvSpPr/>
          <p:nvPr/>
        </p:nvSpPr>
        <p:spPr>
          <a:xfrm>
            <a:off x="4663440" y="31546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937760" y="292608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5月16日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9260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G1提案提交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657600"/>
            <a:ext cx="182880" cy="18288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4" name="Shape 22"/>
          <p:cNvSpPr/>
          <p:nvPr/>
        </p:nvSpPr>
        <p:spPr>
          <a:xfrm>
            <a:off x="4663440" y="3840480"/>
            <a:ext cx="0" cy="50292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937760" y="361188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6月10日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3611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G2提交与自检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4343400"/>
            <a:ext cx="182880" cy="18288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28" name="Text 26"/>
          <p:cNvSpPr/>
          <p:nvPr/>
        </p:nvSpPr>
        <p:spPr>
          <a:xfrm>
            <a:off x="4937760" y="429768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6月17日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42976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班级成果展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solidFill>
            <a:srgbClr val="02C39A">
              <a:alpha val="2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293B"/>
                </a:solidFill>
              </a:rPr>
              <a:t>⚠️ 总截止日：6月17日（</a:t>
            </a:r>
            <a:r>
              <a:rPr lang="en-US" altLang="zh-CN" sz="1200" b="1" dirty="0">
                <a:solidFill>
                  <a:srgbClr val="1E293B"/>
                </a:solidFill>
              </a:rPr>
              <a:t>周三</a:t>
            </a:r>
            <a:r>
              <a:rPr lang="en-US" sz="1200" b="1" dirty="0">
                <a:solidFill>
                  <a:srgbClr val="1E293B"/>
                </a:solidFill>
              </a:rPr>
              <a:t>）| 所有节点作为班级周会（每周三）的核心议题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二、项目选择意向表（腾讯文档发布）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solidFill>
            <a:srgbClr val="00A896">
              <a:alpha val="8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</a:rPr>
              <a:t>项目协同组将于5月11日发布腾讯文档《AI+X实验班项目选择意向表》，每位同学必须填写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893155"/>
              </p:ext>
            </p:extLst>
          </p:nvPr>
        </p:nvGraphicFramePr>
        <p:xfrm>
          <a:off x="365760" y="1280160"/>
          <a:ext cx="6858000" cy="29260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字段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是否必填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姓名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真实姓名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首选项目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项目编号+名称，只填1个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首选理由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100" kern="1200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</a:rPr>
                        <a:t>≥20字，帮助</a:t>
                      </a:r>
                      <a:r>
                        <a:rPr lang="zh-CN" altLang="en-US" sz="1100" kern="1200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</a:rPr>
                        <a:t>班主任和助教老师</a:t>
                      </a:r>
                      <a:r>
                        <a:rPr lang="en-US" sz="1100" kern="1200" dirty="0">
                          <a:solidFill>
                            <a:srgbClr val="334155"/>
                          </a:solidFill>
                          <a:latin typeface="+mn-lt"/>
                          <a:ea typeface="+mn-ea"/>
                          <a:cs typeface="+mn-cs"/>
                        </a:rPr>
                        <a:t>判断匹配度</a:t>
                      </a: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备选项目1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首选名额满时的第二志愿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备选项目2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第三志愿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愿意承担的角色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开发/测试/文档/设计/协调（可多选）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当前具备的能力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具体技术或软技能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每周可投入时间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预估小时数，建议≥6h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必填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⏰ 截止时间：5月12日（周</a:t>
            </a:r>
            <a:r>
              <a:rPr lang="zh-CN" altLang="en-US" sz="1300" b="1" dirty="0">
                <a:solidFill>
                  <a:srgbClr val="DC2626"/>
                </a:solidFill>
              </a:rPr>
              <a:t>二</a:t>
            </a:r>
            <a:r>
              <a:rPr lang="en-US" sz="1300" b="1">
                <a:solidFill>
                  <a:srgbClr val="DC2626"/>
                </a:solidFill>
              </a:rPr>
              <a:t>）</a:t>
            </a:r>
            <a:r>
              <a:rPr lang="en-US" sz="1300" b="1" dirty="0">
                <a:solidFill>
                  <a:srgbClr val="DC2626"/>
                </a:solidFill>
              </a:rPr>
              <a:t>24:00 | 逾期未填将由协同组随机分配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三、项目组匹配与确认流程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3.1 匹配原则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82880" cy="18288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7" name="Text 5"/>
          <p:cNvSpPr/>
          <p:nvPr/>
        </p:nvSpPr>
        <p:spPr>
          <a:xfrm>
            <a:off x="822960" y="137160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1. 每组人数控制在 3 人内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82880" cy="18288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9" name="Text 7"/>
          <p:cNvSpPr/>
          <p:nvPr/>
        </p:nvSpPr>
        <p:spPr>
          <a:xfrm>
            <a:off x="822960" y="205740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2. 优先满足首选志愿（≤3人全部进入，&gt;3人按匹配度筛选）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82880" cy="18288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1" name="Text 9"/>
          <p:cNvSpPr/>
          <p:nvPr/>
        </p:nvSpPr>
        <p:spPr>
          <a:xfrm>
            <a:off x="822960" y="274320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3. 每组至少具备三种角色：开发、文档、测试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182880" cy="18288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3" name="Text 11"/>
          <p:cNvSpPr/>
          <p:nvPr/>
        </p:nvSpPr>
        <p:spPr>
          <a:xfrm>
            <a:off x="822960" y="342900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4. 指定组长（意向最明确或能力较全面的同学）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8229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3.2 发布与调整流程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1481087"/>
            <a:ext cx="457200" cy="32004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6" name="Text 14"/>
          <p:cNvSpPr/>
          <p:nvPr/>
        </p:nvSpPr>
        <p:spPr>
          <a:xfrm>
            <a:off x="4754880" y="1481087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03520" y="1481087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481087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5月13日: 导出意向表，形成《初版分组名单》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938287"/>
            <a:ext cx="457200" cy="32004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0" name="Text 18"/>
          <p:cNvSpPr/>
          <p:nvPr/>
        </p:nvSpPr>
        <p:spPr>
          <a:xfrm>
            <a:off x="4754880" y="1938287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0" y="1938287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938287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5月14日: 发布初版名单及换组窗口通知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395487"/>
            <a:ext cx="457200" cy="32004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4" name="Text 22"/>
          <p:cNvSpPr/>
          <p:nvPr/>
        </p:nvSpPr>
        <p:spPr>
          <a:xfrm>
            <a:off x="4754880" y="2395487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03520" y="2395487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2395487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5月14日全天: 开放24小时换组窗口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852687"/>
            <a:ext cx="457200" cy="32004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28" name="Text 26"/>
          <p:cNvSpPr/>
          <p:nvPr/>
        </p:nvSpPr>
        <p:spPr>
          <a:xfrm>
            <a:off x="4754880" y="2852687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03520" y="2852687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2852687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5月15日</a:t>
            </a:r>
            <a:r>
              <a:rPr lang="zh-CN" altLang="en-US" sz="950" dirty="0">
                <a:solidFill>
                  <a:srgbClr val="334155"/>
                </a:solidFill>
              </a:rPr>
              <a:t>上午</a:t>
            </a:r>
            <a:r>
              <a:rPr lang="en-US" sz="950" dirty="0">
                <a:solidFill>
                  <a:srgbClr val="334155"/>
                </a:solidFill>
              </a:rPr>
              <a:t>: 发布《最终项目-成员分配表》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657600"/>
            <a:ext cx="402336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7490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</a:rPr>
              <a:t>⚠️ 换组规则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37760" y="406908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双方自愿 + 双方组长同意 + </a:t>
            </a:r>
            <a:r>
              <a:rPr lang="zh-CN" altLang="en-US" sz="1000" dirty="0">
                <a:solidFill>
                  <a:srgbClr val="334155"/>
                </a:solidFill>
              </a:rPr>
              <a:t>班主任审批</a:t>
            </a:r>
            <a:r>
              <a:rPr lang="en-US" altLang="zh-CN" sz="1000" dirty="0">
                <a:solidFill>
                  <a:srgbClr val="334155"/>
                </a:solidFill>
              </a:rPr>
              <a:t>+</a:t>
            </a:r>
            <a:r>
              <a:rPr lang="en-US" sz="1000" dirty="0">
                <a:solidFill>
                  <a:srgbClr val="334155"/>
                </a:solidFill>
              </a:rPr>
              <a:t>协同组</a:t>
            </a:r>
            <a:r>
              <a:rPr lang="zh-CN" altLang="en-US" sz="1000" dirty="0">
                <a:solidFill>
                  <a:srgbClr val="334155"/>
                </a:solidFill>
              </a:rPr>
              <a:t>备案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每人全程只能换组一次
• 窗口期结束后最终名单锁定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四、项目选择、组队与交叉参与机制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1371600"/>
          </a:xfrm>
          <a:prstGeom prst="rect">
            <a:avLst/>
          </a:prstGeom>
          <a:solidFill>
            <a:srgbClr val="F1F5F9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模式一：单人项目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一人独立完成所有角色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承诺每周投入时间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• 按时在周会同步进度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85999"/>
            <a:ext cx="4114800" cy="2328111"/>
          </a:xfrm>
          <a:prstGeom prst="rect">
            <a:avLst/>
          </a:prstGeom>
          <a:solidFill>
            <a:srgbClr val="F1F5F9"/>
          </a:solidFill>
          <a:ln w="254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3774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模式二：小组项目（3人内）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• 项目负责人（1人）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  对项目最终交付负责，主要联络人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• 开发者（1人）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  负责核心功能实现、AI协作日志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• 文档与测试（1人）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296717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  负责README、复用声明、测试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777240"/>
            <a:ext cx="4023360" cy="3520440"/>
          </a:xfrm>
          <a:prstGeom prst="rect">
            <a:avLst/>
          </a:prstGeom>
          <a:solidFill>
            <a:srgbClr val="E0F2F1"/>
          </a:solidFill>
          <a:ln w="254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9144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规则三：交叉参与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</a:rPr>
              <a:t>「一人可进多组」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69164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100" dirty="0">
                <a:solidFill>
                  <a:srgbClr val="000000"/>
                </a:solidFill>
              </a:rPr>
              <a:t>每人可担任至多1个项目的负责人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100" dirty="0">
                <a:solidFill>
                  <a:srgbClr val="000000"/>
                </a:solidFill>
              </a:rPr>
              <a:t>可作为成员参与另1个其他项目
</a:t>
            </a:r>
            <a:r>
              <a:rPr lang="en-US" sz="1200" b="1" dirty="0">
                <a:solidFill>
                  <a:srgbClr val="02C39A"/>
                </a:solidFill>
              </a:rPr>
              <a:t>✓ </a:t>
            </a:r>
            <a:r>
              <a:rPr lang="en-US" sz="1100" dirty="0">
                <a:solidFill>
                  <a:srgbClr val="000000"/>
                </a:solidFill>
              </a:rPr>
              <a:t>总计不超过2个项目
</a:t>
            </a:r>
            <a:r>
              <a:rPr lang="en-US" sz="1100" b="1" dirty="0">
                <a:solidFill>
                  <a:srgbClr val="1E293B"/>
                </a:solidFill>
              </a:rPr>
              <a:t>示例：</a:t>
            </a:r>
            <a:r>
              <a:rPr lang="en-US" sz="1000" dirty="0">
                <a:solidFill>
                  <a:srgbClr val="334155"/>
                </a:solidFill>
              </a:rPr>
              <a:t>同学A是"智能考勤系统"的负责人，同时可以作为开发者加入"校园导览助手"项目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3977640"/>
            <a:ext cx="3657600" cy="320040"/>
          </a:xfrm>
          <a:prstGeom prst="rect">
            <a:avLst/>
          </a:prstGeom>
          <a:solidFill>
            <a:srgbClr val="02C39A">
              <a:alpha val="7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5029200" y="404164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目的：鼓励技能互补与深度协作，避免资源闲置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五、各职能小组职责升级（服务混合模式）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011680" cy="54864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6" name="Text 4"/>
          <p:cNvSpPr/>
          <p:nvPr/>
        </p:nvSpPr>
        <p:spPr>
          <a:xfrm>
            <a:off x="457200" y="9144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项目协同组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流程宪兵 &amp; 资源调度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37160" cy="13716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9" name="Text 7"/>
          <p:cNvSpPr/>
          <p:nvPr/>
        </p:nvSpPr>
        <p:spPr>
          <a:xfrm>
            <a:off x="640080" y="1828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发布意向表、执行匹配、处理换组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1" name="Text 9"/>
          <p:cNvSpPr/>
          <p:nvPr/>
        </p:nvSpPr>
        <p:spPr>
          <a:xfrm>
            <a:off x="640080" y="23317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组织G1/G3评审会议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137160" cy="13716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3" name="Text 11"/>
          <p:cNvSpPr/>
          <p:nvPr/>
        </p:nvSpPr>
        <p:spPr>
          <a:xfrm>
            <a:off x="640080" y="28346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仲裁项目冲突，监控交叉参与风险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137160" cy="13716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5" name="Text 13"/>
          <p:cNvSpPr/>
          <p:nvPr/>
        </p:nvSpPr>
        <p:spPr>
          <a:xfrm>
            <a:off x="640080" y="333756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协调算力等特殊资源申请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06040" y="82296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822960"/>
            <a:ext cx="2011680" cy="54864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8" name="Text 16"/>
          <p:cNvSpPr/>
          <p:nvPr/>
        </p:nvSpPr>
        <p:spPr>
          <a:xfrm>
            <a:off x="2697480" y="9144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学习推进组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14173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进度看板 &amp; 风险预警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97480" y="1874520"/>
            <a:ext cx="137160" cy="13716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1" name="Text 19"/>
          <p:cNvSpPr/>
          <p:nvPr/>
        </p:nvSpPr>
        <p:spPr>
          <a:xfrm>
            <a:off x="2880360" y="1828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制作《项目进度看板》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97480" y="2377440"/>
            <a:ext cx="137160" cy="13716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3" name="Text 21"/>
          <p:cNvSpPr/>
          <p:nvPr/>
        </p:nvSpPr>
        <p:spPr>
          <a:xfrm>
            <a:off x="2880360" y="23317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每周二、五提醒里程碑节点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97480" y="2880360"/>
            <a:ext cx="137160" cy="13716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25" name="Text 23"/>
          <p:cNvSpPr/>
          <p:nvPr/>
        </p:nvSpPr>
        <p:spPr>
          <a:xfrm>
            <a:off x="2880360" y="28346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组织周三加油站，跟进滞后项目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82296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822960"/>
            <a:ext cx="2011680" cy="54864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8" name="Text 26"/>
          <p:cNvSpPr/>
          <p:nvPr/>
        </p:nvSpPr>
        <p:spPr>
          <a:xfrm>
            <a:off x="4937760" y="9144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成果沉淀组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14173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标准模板 &amp; 优秀案例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37760" y="1874520"/>
            <a:ext cx="137160" cy="137160"/>
          </a:xfrm>
          <a:prstGeom prst="ellipse">
            <a:avLst/>
          </a:prstGeom>
          <a:solidFill>
            <a:srgbClr val="DC2626"/>
          </a:solidFill>
        </p:spPr>
      </p:sp>
      <p:sp>
        <p:nvSpPr>
          <p:cNvPr id="31" name="Text 29"/>
          <p:cNvSpPr/>
          <p:nvPr/>
        </p:nvSpPr>
        <p:spPr>
          <a:xfrm>
            <a:off x="5120640" y="1828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收集优秀G1提案、高评级项目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37760" y="2377440"/>
            <a:ext cx="137160" cy="137160"/>
          </a:xfrm>
          <a:prstGeom prst="ellipse">
            <a:avLst/>
          </a:prstGeom>
          <a:solidFill>
            <a:srgbClr val="DC2626"/>
          </a:solidFill>
        </p:spPr>
      </p:sp>
      <p:sp>
        <p:nvSpPr>
          <p:cNvPr id="33" name="Text 31"/>
          <p:cNvSpPr/>
          <p:nvPr/>
        </p:nvSpPr>
        <p:spPr>
          <a:xfrm>
            <a:off x="5120640" y="23317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形成案例库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2880360"/>
            <a:ext cx="137160" cy="137160"/>
          </a:xfrm>
          <a:prstGeom prst="ellipse">
            <a:avLst/>
          </a:prstGeom>
          <a:solidFill>
            <a:srgbClr val="DC2626"/>
          </a:solidFill>
        </p:spPr>
      </p:sp>
      <p:sp>
        <p:nvSpPr>
          <p:cNvPr id="35" name="Text 33"/>
          <p:cNvSpPr/>
          <p:nvPr/>
        </p:nvSpPr>
        <p:spPr>
          <a:xfrm>
            <a:off x="5120640" y="28346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指导各项目按规范整理作品集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86600" y="822960"/>
            <a:ext cx="20116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086600" y="822960"/>
            <a:ext cx="2011680" cy="548640"/>
          </a:xfrm>
          <a:prstGeom prst="rect">
            <a:avLst/>
          </a:prstGeom>
          <a:solidFill>
            <a:srgbClr val="EA580C"/>
          </a:solidFill>
        </p:spPr>
      </p:sp>
      <p:sp>
        <p:nvSpPr>
          <p:cNvPr id="38" name="Text 36"/>
          <p:cNvSpPr/>
          <p:nvPr/>
        </p:nvSpPr>
        <p:spPr>
          <a:xfrm>
            <a:off x="7178040" y="9144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文化传播组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78040" y="14173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</a:rPr>
              <a:t>氛围营造 &amp; 故事记录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178040" y="1874520"/>
            <a:ext cx="137160" cy="137160"/>
          </a:xfrm>
          <a:prstGeom prst="ellipse">
            <a:avLst/>
          </a:prstGeom>
          <a:solidFill>
            <a:srgbClr val="EA580C"/>
          </a:solidFill>
        </p:spPr>
      </p:sp>
      <p:sp>
        <p:nvSpPr>
          <p:cNvPr id="41" name="Text 39"/>
          <p:cNvSpPr/>
          <p:nvPr/>
        </p:nvSpPr>
        <p:spPr>
          <a:xfrm>
            <a:off x="7360920" y="1828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采写单人极客与黄金搭档故事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178040" y="2377440"/>
            <a:ext cx="137160" cy="137160"/>
          </a:xfrm>
          <a:prstGeom prst="ellipse">
            <a:avLst/>
          </a:prstGeom>
          <a:solidFill>
            <a:srgbClr val="EA580C"/>
          </a:solidFill>
        </p:spPr>
      </p:sp>
      <p:sp>
        <p:nvSpPr>
          <p:cNvPr id="43" name="Text 41"/>
          <p:cNvSpPr/>
          <p:nvPr/>
        </p:nvSpPr>
        <p:spPr>
          <a:xfrm>
            <a:off x="7360920" y="23317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制作倒计时海报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178040" y="2880360"/>
            <a:ext cx="137160" cy="137160"/>
          </a:xfrm>
          <a:prstGeom prst="ellipse">
            <a:avLst/>
          </a:prstGeom>
          <a:solidFill>
            <a:srgbClr val="EA580C"/>
          </a:solidFill>
        </p:spPr>
      </p:sp>
      <p:sp>
        <p:nvSpPr>
          <p:cNvPr id="45" name="Text 43"/>
          <p:cNvSpPr/>
          <p:nvPr/>
        </p:nvSpPr>
        <p:spPr>
          <a:xfrm>
            <a:off x="7360920" y="28346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组织跨组分享会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429768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各小组协同工作，确保项目顺利执行并达到L2及以上水平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六、G1提案要求与评审流程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所有项目（单人/小组）必须提交G1提案，包含以下部分：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20040" cy="3200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6" name="Text 4"/>
          <p:cNvSpPr/>
          <p:nvPr/>
        </p:nvSpPr>
        <p:spPr>
          <a:xfrm>
            <a:off x="365760" y="11430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项目信息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14300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项目名，成员名单及角色，目标Level（底线L2）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320040" cy="3200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0" name="Text 8"/>
          <p:cNvSpPr/>
          <p:nvPr/>
        </p:nvSpPr>
        <p:spPr>
          <a:xfrm>
            <a:off x="365760" y="15544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554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求真-需求分析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55448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用户画像、3个核心痛点、竞品分析（至少2个）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320040" cy="3200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4" name="Text 12"/>
          <p:cNvSpPr/>
          <p:nvPr/>
        </p:nvSpPr>
        <p:spPr>
          <a:xfrm>
            <a:off x="365760" y="19659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9659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融通-技术方案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196596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系统架构图（必填）、核心选型理由、技术难点及攻克思路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377440"/>
            <a:ext cx="320040" cy="3200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8" name="Text 16"/>
          <p:cNvSpPr/>
          <p:nvPr/>
        </p:nvSpPr>
        <p:spPr>
          <a:xfrm>
            <a:off x="365760" y="23774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23774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担当-里程碑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237744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以周为单位的详细计划（W1-W4），精确到个人任务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788920"/>
            <a:ext cx="320040" cy="3200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2" name="Text 20"/>
          <p:cNvSpPr/>
          <p:nvPr/>
        </p:nvSpPr>
        <p:spPr>
          <a:xfrm>
            <a:off x="365760" y="27889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278892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复用声明 &amp; AI留痕计划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278892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初步计划复用的项目/代码，以及如何记录AI协作日志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320040" cy="3200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6" name="Text 24"/>
          <p:cNvSpPr/>
          <p:nvPr/>
        </p:nvSpPr>
        <p:spPr>
          <a:xfrm>
            <a:off x="365760" y="32004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32004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资源与风险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320040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API预算（</a:t>
            </a:r>
            <a:r>
              <a:rPr lang="zh-CN" altLang="en-US" sz="1100" dirty="0">
                <a:solidFill>
                  <a:srgbClr val="FF0000"/>
                </a:solidFill>
              </a:rPr>
              <a:t>单任务</a:t>
            </a:r>
            <a:r>
              <a:rPr lang="en-US" sz="1100" dirty="0">
                <a:solidFill>
                  <a:srgbClr val="334155"/>
                </a:solidFill>
              </a:rPr>
              <a:t>超70元需审批）、风险评估与应对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611880"/>
            <a:ext cx="320040" cy="32004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30" name="Text 28"/>
          <p:cNvSpPr/>
          <p:nvPr/>
        </p:nvSpPr>
        <p:spPr>
          <a:xfrm>
            <a:off x="365760" y="36118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36118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集体承诺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0" y="361188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FF0000"/>
                </a:solidFill>
              </a:rPr>
              <a:t>全体</a:t>
            </a:r>
            <a:r>
              <a:rPr lang="en-US" sz="1100" dirty="0" err="1">
                <a:solidFill>
                  <a:srgbClr val="334155"/>
                </a:solidFill>
              </a:rPr>
              <a:t>成员签字（或群内公开承诺</a:t>
            </a:r>
            <a:r>
              <a:rPr lang="en-US" sz="1100" dirty="0">
                <a:solidFill>
                  <a:srgbClr val="334155"/>
                </a:solidFill>
              </a:rPr>
              <a:t>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</a:rPr>
              <a:t>📋 截止时间：5月16日 | 所有项目须获得≥1同伴+≥1老师的G1书面背书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七、项目执行、G2/G3验收与最终展示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743200" cy="640080"/>
          </a:xfrm>
          <a:prstGeom prst="rect">
            <a:avLst/>
          </a:prstGeom>
          <a:solidFill>
            <a:srgbClr val="00A896">
              <a:alpha val="80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457200" y="9144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G2提交与验证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/>
                </a:solidFill>
              </a:rPr>
              <a:t>截止6月10日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提交GitHub仓库链接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包含六件套 + </a:t>
            </a:r>
            <a:r>
              <a:rPr lang="en-US" sz="1000" dirty="0" err="1">
                <a:solidFill>
                  <a:srgbClr val="334155"/>
                </a:solidFill>
              </a:rPr>
              <a:t>跑通验证Skill</a:t>
            </a:r>
            <a:r>
              <a:rPr lang="zh-CN" altLang="en-US" sz="1000" dirty="0">
                <a:solidFill>
                  <a:srgbClr val="334155"/>
                </a:solidFill>
              </a:rPr>
              <a:t>及其视频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验证报告结果必须为APPROVE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否则不得进入G3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82296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822960"/>
            <a:ext cx="2743200" cy="640080"/>
          </a:xfrm>
          <a:prstGeom prst="rect">
            <a:avLst/>
          </a:prstGeom>
          <a:solidFill>
            <a:srgbClr val="7C3AED">
              <a:alpha val="8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3383280" y="9144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G3验收与定级</a:t>
            </a:r>
          </a:p>
        </p:txBody>
      </p:sp>
      <p:sp>
        <p:nvSpPr>
          <p:cNvPr id="15" name="Text 13"/>
          <p:cNvSpPr/>
          <p:nvPr/>
        </p:nvSpPr>
        <p:spPr>
          <a:xfrm>
            <a:off x="3383280" y="118872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/>
                </a:solidFill>
              </a:rPr>
              <a:t>6月10-13日</a:t>
            </a:r>
          </a:p>
        </p:txBody>
      </p:sp>
      <p:sp>
        <p:nvSpPr>
          <p:cNvPr id="16" name="Text 14"/>
          <p:cNvSpPr/>
          <p:nvPr/>
        </p:nvSpPr>
        <p:spPr>
          <a:xfrm>
            <a:off x="3429000" y="160020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验证人：G1背书老师 + 同伴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21031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30分钟内复现核心结果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60604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审查AI日志真实性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31089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给出L1-L4定级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82296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822960"/>
            <a:ext cx="2743200" cy="640080"/>
          </a:xfrm>
          <a:prstGeom prst="rect">
            <a:avLst/>
          </a:prstGeom>
          <a:solidFill>
            <a:srgbClr val="DC2626">
              <a:alpha val="8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6309360" y="9144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chemeClr val="tx2"/>
                </a:solidFill>
              </a:rPr>
              <a:t>班级成果展</a:t>
            </a: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09360" y="118872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/>
                </a:solidFill>
              </a:rPr>
              <a:t>6月17日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55080" y="160020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</a:t>
            </a:r>
            <a:r>
              <a:rPr lang="zh-CN" altLang="en-US" sz="1000" dirty="0">
                <a:solidFill>
                  <a:srgbClr val="334155"/>
                </a:solidFill>
              </a:rPr>
              <a:t>现场展示作品及相关证明材料</a:t>
            </a:r>
          </a:p>
        </p:txBody>
      </p:sp>
      <p:sp>
        <p:nvSpPr>
          <p:cNvPr id="25" name="Text 23"/>
          <p:cNvSpPr/>
          <p:nvPr/>
        </p:nvSpPr>
        <p:spPr>
          <a:xfrm>
            <a:off x="6355080" y="21031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3分钟演示 + 2分钟问答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260604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评审团：</a:t>
            </a:r>
            <a:r>
              <a:rPr lang="en-US" sz="1000" dirty="0">
                <a:solidFill>
                  <a:srgbClr val="334155"/>
                </a:solidFill>
                <a:sym typeface="+mn-ea"/>
              </a:rPr>
              <a:t>嘉宾</a:t>
            </a:r>
            <a:r>
              <a:rPr lang="zh-CN" altLang="en-US" sz="1000" dirty="0">
                <a:solidFill>
                  <a:srgbClr val="334155"/>
                </a:solidFill>
                <a:sym typeface="+mn-ea"/>
              </a:rPr>
              <a:t>、</a:t>
            </a:r>
            <a:r>
              <a:rPr lang="en-US" sz="1000" dirty="0">
                <a:solidFill>
                  <a:srgbClr val="334155"/>
                </a:solidFill>
              </a:rPr>
              <a:t>班主任、助教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31089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• 所有成果归档入个人作品集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20624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📌 过程留痕：所有项目必须维护 AI_LOG.md，记录关键决策点的Prompt与思考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八、支持与保障机制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3571" y="1117132"/>
            <a:ext cx="40233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0731" y="12542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33651" y="12085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周三"加油站"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3651" y="152861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针对共性技术卡点或进度滞后项目，提供专家会诊或结对编程支持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82691" y="1103897"/>
            <a:ext cx="402336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19851" y="12542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22771" y="12085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技术/资源紧急通道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22771" y="152861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项目遇重大技术瓶颈或人员变动，可向项目协同组申请急诊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51622"/>
            <a:ext cx="40233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88878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284306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交叉参与协调员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16310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专门跟踪交叉参与同学的进度，避免角色冲突和过载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402336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880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94960" y="28346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诚信与预警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31546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对无进展、造假、违反红线项目，触发提醒-辅导-整改预警机制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02C39A">
              <a:alpha val="15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目标：确保每位同学都能顺利完成项目，达到L2及以上水平，6月17日路演见！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📢 给全班的行动指南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8659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365760" y="1098659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1️⃣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1098659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1097280" y="1098659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5月11日: 查看《真实项目池》，锁定你的首选、备选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93019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365760" y="1693019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2️⃣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05840" y="1693019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1097280" y="1693019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5月12日 24:00前: 填写《项目选择意向表》（腾讯文档）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287379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365760" y="2287379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3️⃣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05840" y="2287379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1097280" y="2287379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5月13日: 关注《初版分组名单》，确认组员和项目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922731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365760" y="2922731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4️⃣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05840" y="2922731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1097280" y="2922731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5月14日: 如需换组，在24小时窗口期内申请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58094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5️⃣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65760" y="3603802"/>
            <a:ext cx="548640" cy="457200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1005840" y="3603802"/>
            <a:ext cx="7772400" cy="4572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1097280" y="3603802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5月16日前: 提交G1提案，拿背书，开干！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9" name="Text 27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规则速记：每组3人内 | 角色覆盖开发+文档+测试 | 每人可负责1+参与1个项目 | 最终成果L2及以上，6月17日路演见！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C39A">
              <a:alpha val="1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认真选，踏实做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6月交出真作品！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3200400"/>
            <a:ext cx="4572000" cy="4572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2286000" y="32461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维护者：项目协同组 | 最后更新：2026年5月9日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849</Words>
  <Application>Microsoft Office PowerPoint</Application>
  <PresentationFormat>全屏显示(16:9)</PresentationFormat>
  <Paragraphs>195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AI+X实验班真实项目执行方案</dc:title>
  <dc:subject>PptxGenJS Presentation</dc:subject>
  <dc:creator>AI+X实验班项目协同组</dc:creator>
  <cp:lastModifiedBy>曦 晨</cp:lastModifiedBy>
  <cp:revision>18</cp:revision>
  <dcterms:created xsi:type="dcterms:W3CDTF">2026-05-11T02:15:53Z</dcterms:created>
  <dcterms:modified xsi:type="dcterms:W3CDTF">2026-05-11T07:02:26Z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F64DB205A2F5891F0B36016AE63B2165_42</vt:lpwstr>
  </property>
  <property fmtid="{D5CDD505-2E9C-101B-9397-08002B2CF9AE}" pid="3" name="KSOProductBuildVer">
    <vt:lpwstr>2052-7.4.1.8983</vt:lpwstr>
  </property>
</Properties>
</file>