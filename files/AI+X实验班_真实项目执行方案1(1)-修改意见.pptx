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AI+X实验班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真实项目执行方案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混合协作版 v3.1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772400" cy="914400"/>
          </a:xfrm>
          <a:prstGeom prst="rect">
            <a:avLst/>
          </a:prstGeom>
          <a:solidFill>
            <a:srgbClr val="FFFFFF">
              <a:alpha val="15000"/>
            </a:srgbClr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负责小组：</a:t>
            </a:r>
            <a:r>
              <a:rPr lang="en-US" sz="1300" dirty="0">
                <a:solidFill>
                  <a:srgbClr val="F1F5F9"/>
                </a:solidFill>
              </a:rPr>
              <a:t>项目协同组（牵头），学习推进组、成果沉淀组、文化传播组协同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核心目标：</a:t>
            </a:r>
            <a:r>
              <a:rPr lang="en-US" sz="1300" dirty="0">
                <a:solidFill>
                  <a:srgbClr val="F1F5F9"/>
                </a:solidFill>
              </a:rPr>
              <a:t>确保班级在6月17日前，完成至少25个达到L2（单点改进）及以上水平的真实项目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</a:rPr>
              <a:t>2026年5月9日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一、总体时间线与核心里程碑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8404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459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核心原则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基于现有项目材料自主选择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支持单人项目或≤3人小组</a:t>
            </a:r>
            <a:endParaRPr lang="en-US" sz="12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sym typeface="+mn-ea"/>
              </a:rPr>
              <a:t>✓</a:t>
            </a:r>
            <a:r>
              <a:rPr lang="zh-CN" altLang="en-US" sz="1200" b="1" dirty="0">
                <a:solidFill>
                  <a:srgbClr val="02C39A"/>
                </a:solidFill>
                <a:highlight>
                  <a:srgbClr val="FFFF00"/>
                </a:highlight>
                <a:sym typeface="+mn-ea"/>
              </a:rPr>
              <a:t>每位成员至少担任</a:t>
            </a:r>
            <a:r>
              <a:rPr lang="en-US" altLang="zh-CN" sz="1200" b="1" dirty="0">
                <a:solidFill>
                  <a:srgbClr val="02C39A"/>
                </a:solidFill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sz="1200" b="1" dirty="0">
                <a:solidFill>
                  <a:srgbClr val="02C39A"/>
                </a:solidFill>
                <a:highlight>
                  <a:srgbClr val="FFFF00"/>
                </a:highlight>
                <a:sym typeface="+mn-ea"/>
              </a:rPr>
              <a:t>个项目负责人</a:t>
            </a:r>
            <a:endParaRPr lang="en-US" sz="1200" b="1" dirty="0">
              <a:solidFill>
                <a:srgbClr val="02C39A"/>
              </a:solidFill>
              <a:sym typeface="+mn-ea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鼓励交叉协作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强调责任明确、过程留痕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8" name="Shape 6"/>
          <p:cNvSpPr/>
          <p:nvPr/>
        </p:nvSpPr>
        <p:spPr>
          <a:xfrm>
            <a:off x="4663440" y="10972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937760" y="8686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5月11日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868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项目池公布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2" name="Shape 10"/>
          <p:cNvSpPr/>
          <p:nvPr/>
        </p:nvSpPr>
        <p:spPr>
          <a:xfrm>
            <a:off x="4663440" y="17830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5月12日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</a:rPr>
              <a:t>意向填报截止</a:t>
            </a:r>
            <a:r>
              <a:rPr lang="en-US" sz="1100" dirty="0">
                <a:solidFill>
                  <a:srgbClr val="334155"/>
                </a:solidFill>
              </a:rPr>
              <a:t>(5</a:t>
            </a:r>
            <a:r>
              <a:rPr lang="zh-CN" altLang="en-US" sz="1100" dirty="0">
                <a:solidFill>
                  <a:srgbClr val="334155"/>
                </a:solidFill>
              </a:rPr>
              <a:t>月</a:t>
            </a:r>
            <a:r>
              <a:rPr lang="en-US" altLang="zh-CN" sz="1100" dirty="0">
                <a:solidFill>
                  <a:srgbClr val="334155"/>
                </a:solidFill>
              </a:rPr>
              <a:t>12</a:t>
            </a:r>
            <a:r>
              <a:rPr lang="zh-CN" altLang="en-US" sz="1100" dirty="0">
                <a:solidFill>
                  <a:srgbClr val="334155"/>
                </a:solidFill>
              </a:rPr>
              <a:t>日</a:t>
            </a:r>
            <a:r>
              <a:rPr lang="en-US" sz="1100" dirty="0">
                <a:solidFill>
                  <a:srgbClr val="334155"/>
                </a:solidFill>
              </a:rPr>
              <a:t>24</a:t>
            </a:r>
            <a:r>
              <a:rPr lang="zh-CN" altLang="en-US" sz="1100" dirty="0">
                <a:solidFill>
                  <a:srgbClr val="334155"/>
                </a:solidFill>
              </a:rPr>
              <a:t>点</a:t>
            </a:r>
            <a:r>
              <a:rPr lang="en-US" sz="1100" dirty="0">
                <a:solidFill>
                  <a:srgbClr val="334155"/>
                </a:solidFill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Shape 14"/>
          <p:cNvSpPr/>
          <p:nvPr/>
        </p:nvSpPr>
        <p:spPr>
          <a:xfrm>
            <a:off x="4663440" y="24688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37760" y="22402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5月14日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最终名单锁定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0" name="Shape 18"/>
          <p:cNvSpPr/>
          <p:nvPr/>
        </p:nvSpPr>
        <p:spPr>
          <a:xfrm>
            <a:off x="4663440" y="31546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937760" y="29260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5月16日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G1提案提交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4" name="Shape 22"/>
          <p:cNvSpPr/>
          <p:nvPr/>
        </p:nvSpPr>
        <p:spPr>
          <a:xfrm>
            <a:off x="4663440" y="38404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937760" y="36118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6月10日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G2提交与自检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34340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8" name="Text 26"/>
          <p:cNvSpPr/>
          <p:nvPr/>
        </p:nvSpPr>
        <p:spPr>
          <a:xfrm>
            <a:off x="4937760" y="42976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6月17日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297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班级成果展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02C39A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</a:rPr>
              <a:t>⚠️ 总截止日：6月17日（</a:t>
            </a:r>
            <a:r>
              <a:rPr lang="en-US" altLang="zh-CN" sz="1200" b="1" dirty="0">
                <a:solidFill>
                  <a:srgbClr val="1E293B"/>
                </a:solidFill>
              </a:rPr>
              <a:t>周三</a:t>
            </a:r>
            <a:r>
              <a:rPr lang="en-US" sz="1200" b="1" dirty="0">
                <a:solidFill>
                  <a:srgbClr val="1E293B"/>
                </a:solidFill>
              </a:rPr>
              <a:t>）| 所有节点作为班级周会（每周三）的核心议题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二、项目选择意向表（腾讯文档发布）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00A896">
              <a:alpha val="8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项目协同组将于5月11日发布腾讯文档《AI+X实验班项目选择意向表》，每位同学必须填写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280160"/>
          <a:ext cx="68580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1097280"/>
              </a:tblGrid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是否必填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真实姓名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首选项目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项目编号+名称，只填1个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首选理由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≥20字，</a:t>
                      </a:r>
                      <a:r>
                        <a:rPr lang="en-US" sz="1100" dirty="0">
                          <a:solidFill>
                            <a:srgbClr val="334155"/>
                          </a:solidFill>
                          <a:highlight>
                            <a:srgbClr val="FFFF00"/>
                          </a:highlight>
                        </a:rPr>
                        <a:t>帮助</a:t>
                      </a:r>
                      <a:r>
                        <a:rPr lang="zh-CN" altLang="en-US" sz="1100" dirty="0">
                          <a:solidFill>
                            <a:srgbClr val="334155"/>
                          </a:solidFill>
                          <a:highlight>
                            <a:srgbClr val="FFFF00"/>
                          </a:highlight>
                        </a:rPr>
                        <a:t>班主任和助教老师</a:t>
                      </a:r>
                      <a:r>
                        <a:rPr lang="en-US" sz="1100" dirty="0">
                          <a:solidFill>
                            <a:srgbClr val="334155"/>
                          </a:solidFill>
                          <a:highlight>
                            <a:srgbClr val="FFFF00"/>
                          </a:highlight>
                        </a:rPr>
                        <a:t>判断匹配度</a:t>
                      </a:r>
                      <a:endParaRPr lang="en-US" sz="1100" dirty="0">
                        <a:solidFill>
                          <a:srgbClr val="334155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首选名额满时的第二志愿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第三志愿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愿意承担的角色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开发/测试/文档/设计/协调（可多选）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当前具备的能力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具体技术或软技能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每周可投入时间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预估小时数，建议≥6h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⏰ 截止时间：5月12日（周</a:t>
            </a:r>
            <a:r>
              <a:rPr lang="zh-CN" altLang="en-US" sz="1300" b="1" dirty="0">
                <a:solidFill>
                  <a:srgbClr val="DC2626"/>
                </a:solidFill>
              </a:rPr>
              <a:t>二</a:t>
            </a:r>
            <a:r>
              <a:rPr lang="en-US" sz="1300" b="1">
                <a:solidFill>
                  <a:srgbClr val="DC2626"/>
                </a:solidFill>
              </a:rPr>
              <a:t>）</a:t>
            </a:r>
            <a:r>
              <a:rPr lang="en-US" sz="1300" b="1" dirty="0">
                <a:solidFill>
                  <a:srgbClr val="DC2626"/>
                </a:solidFill>
              </a:rPr>
              <a:t>24:00 | 逾期未填将由协同组随机分配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三、项目组匹配与确认流程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3.1 匹配原则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822960" y="13716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1. 每组人数控制在 3 人内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822960" y="20574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2. 优先满足首选志愿（≤3人全部进入，&gt;3人按匹配度筛选）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822960" y="27432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3. 每组至少具备三种角色：开发、文档、测试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1"/>
          <p:cNvSpPr/>
          <p:nvPr/>
        </p:nvSpPr>
        <p:spPr>
          <a:xfrm>
            <a:off x="822960" y="34290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4. 指定组长（意向最明确或能力较全面的同学）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3.2 发布与调整流程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4754880" y="12344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12344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234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5月13日: 导出意向表，形成《初版分组名单》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0" name="Text 18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16916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6916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5月13日: 发布初版名单及换组窗口通知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4" name="Text 22"/>
          <p:cNvSpPr/>
          <p:nvPr/>
        </p:nvSpPr>
        <p:spPr>
          <a:xfrm>
            <a:off x="4754880" y="21488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21488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148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5月13日全天: 开放24小时换组窗口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8" name="Text 26"/>
          <p:cNvSpPr/>
          <p:nvPr/>
        </p:nvSpPr>
        <p:spPr>
          <a:xfrm>
            <a:off x="4754880" y="26060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0" y="26060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5月14日上午: 发布《最终项目-成员分配表》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2" name="Text 30"/>
          <p:cNvSpPr/>
          <p:nvPr/>
        </p:nvSpPr>
        <p:spPr>
          <a:xfrm>
            <a:off x="4754880" y="30632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03520" y="306324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063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5月14日晚: 建立各组组长群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⚠️ 换组规则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双方自愿 + 双方组长同意 +</a:t>
            </a:r>
            <a:r>
              <a:rPr lang="en-US" sz="1000" dirty="0">
                <a:solidFill>
                  <a:srgbClr val="334155"/>
                </a:solidFill>
                <a:highlight>
                  <a:srgbClr val="FFFF00"/>
                </a:highlight>
              </a:rPr>
              <a:t> </a:t>
            </a:r>
            <a:r>
              <a:rPr lang="zh-CN" altLang="en-US" sz="1000" dirty="0">
                <a:solidFill>
                  <a:srgbClr val="334155"/>
                </a:solidFill>
                <a:highlight>
                  <a:srgbClr val="FFFF00"/>
                </a:highlight>
              </a:rPr>
              <a:t>班主任审批</a:t>
            </a:r>
            <a:r>
              <a:rPr lang="en-US" altLang="zh-CN" sz="1000" dirty="0">
                <a:solidFill>
                  <a:srgbClr val="334155"/>
                </a:solidFill>
                <a:highlight>
                  <a:srgbClr val="FFFF00"/>
                </a:highlight>
              </a:rPr>
              <a:t>+</a:t>
            </a:r>
            <a:r>
              <a:rPr lang="en-US" sz="1000" dirty="0">
                <a:solidFill>
                  <a:srgbClr val="334155"/>
                </a:solidFill>
                <a:highlight>
                  <a:srgbClr val="FFFF00"/>
                </a:highlight>
              </a:rPr>
              <a:t>协同组</a:t>
            </a:r>
            <a:r>
              <a:rPr lang="zh-CN" altLang="en-US" sz="1000" dirty="0">
                <a:solidFill>
                  <a:srgbClr val="334155"/>
                </a:solidFill>
                <a:highlight>
                  <a:srgbClr val="FFFF00"/>
                </a:highlight>
              </a:rPr>
              <a:t>备案</a:t>
            </a:r>
            <a:endParaRPr lang="zh-CN" altLang="en-US" sz="1000" dirty="0">
              <a:solidFill>
                <a:srgbClr val="334155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每人全程只能换组一次
• 窗口期结束后最终名单锁定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四、项目选择、组队与交叉参与机制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371600"/>
          </a:xfrm>
          <a:prstGeom prst="rect">
            <a:avLst/>
          </a:prstGeom>
          <a:solidFill>
            <a:srgbClr val="F1F5F9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模式一：单人项目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一人独立完成所有角色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承诺每周投入时间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按时在周会同步进度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5999"/>
            <a:ext cx="4114800" cy="2328111"/>
          </a:xfrm>
          <a:prstGeom prst="rect">
            <a:avLst/>
          </a:prstGeom>
          <a:solidFill>
            <a:srgbClr val="F1F5F9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模式二：小组项目（3人内）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项目负责人（1人）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对项目最终交付负责，主要联络人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开发者（1人）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负责核心功能实现、AI协作日志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文档与测试（1人）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96717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负责README、复用声明、测试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4023360" cy="3520440"/>
          </a:xfrm>
          <a:prstGeom prst="rect">
            <a:avLst/>
          </a:prstGeom>
          <a:solidFill>
            <a:srgbClr val="E0F2F1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规则三：交叉参与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</a:rPr>
              <a:t>「一人可进多组」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每人可担任至多1个项目的负责人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可作为成员参与另1个其他项目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总计不超过2个项目
</a:t>
            </a:r>
            <a:r>
              <a:rPr lang="en-US" sz="1100" b="1" dirty="0">
                <a:solidFill>
                  <a:srgbClr val="1E293B"/>
                </a:solidFill>
              </a:rPr>
              <a:t>示例：</a:t>
            </a:r>
            <a:r>
              <a:rPr lang="en-US" sz="1000" dirty="0">
                <a:solidFill>
                  <a:srgbClr val="334155"/>
                </a:solidFill>
              </a:rPr>
              <a:t>同学A是"智能考勤系统"的负责人，同时可以作为开发者加入"校园导览助手"项目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solidFill>
            <a:srgbClr val="02C39A">
              <a:alpha val="7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029200" y="40416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目的：鼓励技能互补与深度协作，避免资源闲置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五、各职能小组职责升级（服务混合模式）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011680" cy="5486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项目协同组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流程宪兵 &amp; 资源调度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37160" cy="1371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9" name="Text 7"/>
          <p:cNvSpPr/>
          <p:nvPr/>
        </p:nvSpPr>
        <p:spPr>
          <a:xfrm>
            <a:off x="640080" y="1828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发布意向表、执行匹配、处理换组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640080" y="23317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组织G1/G3评审会议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37160" cy="1371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3" name="Text 11"/>
          <p:cNvSpPr/>
          <p:nvPr/>
        </p:nvSpPr>
        <p:spPr>
          <a:xfrm>
            <a:off x="64008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仲裁项目冲突，监控交叉参与风险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37160" cy="1371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5" name="Text 13"/>
          <p:cNvSpPr/>
          <p:nvPr/>
        </p:nvSpPr>
        <p:spPr>
          <a:xfrm>
            <a:off x="640080" y="333756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协调算力等特殊资源申请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822960"/>
            <a:ext cx="2011680" cy="5486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2697480" y="914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学习推进组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1417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进度看板 &amp; 风险预警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1874520"/>
            <a:ext cx="137160" cy="1371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1" name="Text 19"/>
          <p:cNvSpPr/>
          <p:nvPr/>
        </p:nvSpPr>
        <p:spPr>
          <a:xfrm>
            <a:off x="2880360" y="1828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制作《项目进度看板》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2377440"/>
            <a:ext cx="137160" cy="1371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2880360" y="23317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每周二、五提醒里程碑节点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2880360"/>
            <a:ext cx="137160" cy="1371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5" name="Text 23"/>
          <p:cNvSpPr/>
          <p:nvPr/>
        </p:nvSpPr>
        <p:spPr>
          <a:xfrm>
            <a:off x="288036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组织周三加油站，跟进滞后项目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822960"/>
            <a:ext cx="2011680" cy="54864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8" name="Text 26"/>
          <p:cNvSpPr/>
          <p:nvPr/>
        </p:nvSpPr>
        <p:spPr>
          <a:xfrm>
            <a:off x="4937760" y="914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成果沉淀组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417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标准模板 &amp; 优秀案例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1874520"/>
            <a:ext cx="137160" cy="13716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31" name="Text 29"/>
          <p:cNvSpPr/>
          <p:nvPr/>
        </p:nvSpPr>
        <p:spPr>
          <a:xfrm>
            <a:off x="5120640" y="1828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收集优秀G1提案、高评级项目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137160" cy="13716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33" name="Text 31"/>
          <p:cNvSpPr/>
          <p:nvPr/>
        </p:nvSpPr>
        <p:spPr>
          <a:xfrm>
            <a:off x="5120640" y="23317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形成案例库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880360"/>
            <a:ext cx="137160" cy="13716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35" name="Text 33"/>
          <p:cNvSpPr/>
          <p:nvPr/>
        </p:nvSpPr>
        <p:spPr>
          <a:xfrm>
            <a:off x="512064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指导各项目按规范整理作品集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8660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86600" y="822960"/>
            <a:ext cx="2011680" cy="5486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8" name="Text 36"/>
          <p:cNvSpPr/>
          <p:nvPr/>
        </p:nvSpPr>
        <p:spPr>
          <a:xfrm>
            <a:off x="7178040" y="914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文化传播组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1417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氛围营造 &amp; 故事记录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78040" y="1874520"/>
            <a:ext cx="137160" cy="13716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41" name="Text 39"/>
          <p:cNvSpPr/>
          <p:nvPr/>
        </p:nvSpPr>
        <p:spPr>
          <a:xfrm>
            <a:off x="7360920" y="1828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采写单人极客与黄金搭档故事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2377440"/>
            <a:ext cx="137160" cy="13716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43" name="Text 41"/>
          <p:cNvSpPr/>
          <p:nvPr/>
        </p:nvSpPr>
        <p:spPr>
          <a:xfrm>
            <a:off x="7360920" y="23317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制作倒计时海报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880360"/>
            <a:ext cx="137160" cy="13716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45" name="Text 43"/>
          <p:cNvSpPr/>
          <p:nvPr/>
        </p:nvSpPr>
        <p:spPr>
          <a:xfrm>
            <a:off x="736092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组织跨组分享会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各小组协同工作，确保项目顺利执行并达到L2及以上水平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六、G1提案要求与评审流程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所有项目（单人/小组）必须提交G1提案，包含以下部分：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365760" y="1143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项目信息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项目名，成员名单及角色，目标Level（底线L2）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求真-需求分析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用户画像、3个核心痛点、竞品分析（至少2个）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365760" y="1965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融通-技术方案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96596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系统架构图（必填）、核心选型理由、技术难点及攻克思路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8" name="Text 16"/>
          <p:cNvSpPr/>
          <p:nvPr/>
        </p:nvSpPr>
        <p:spPr>
          <a:xfrm>
            <a:off x="365760" y="2377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担当-里程碑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37744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以周为单位的详细计划（W1-W4），精确到个人任务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365760" y="27889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复用声明 &amp; AI留痕计划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78892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初步计划复用的项目/代码，以及如何记录AI协作日志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6" name="Text 24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200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资源与风险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20040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API预算（</a:t>
            </a:r>
            <a:r>
              <a:rPr lang="zh-CN" altLang="en-US" sz="1100" dirty="0">
                <a:solidFill>
                  <a:srgbClr val="FF0000"/>
                </a:solidFill>
              </a:rPr>
              <a:t>单任务</a:t>
            </a:r>
            <a:r>
              <a:rPr lang="en-US" sz="1100" dirty="0">
                <a:solidFill>
                  <a:srgbClr val="334155"/>
                </a:solidFill>
                <a:highlight>
                  <a:srgbClr val="FFFF00"/>
                </a:highlight>
              </a:rPr>
              <a:t>超70元需审批</a:t>
            </a:r>
            <a:r>
              <a:rPr lang="en-US" sz="1100" dirty="0">
                <a:solidFill>
                  <a:srgbClr val="334155"/>
                </a:solidFill>
              </a:rPr>
              <a:t>）、风险评估与应对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30" name="Text 28"/>
          <p:cNvSpPr/>
          <p:nvPr/>
        </p:nvSpPr>
        <p:spPr>
          <a:xfrm>
            <a:off x="365760" y="3611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集体承诺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61188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FF0000"/>
                </a:solidFill>
                <a:highlight>
                  <a:srgbClr val="FFFF00"/>
                </a:highlight>
              </a:rPr>
              <a:t>全体</a:t>
            </a:r>
            <a:r>
              <a:rPr lang="en-US" sz="1100" dirty="0" err="1">
                <a:solidFill>
                  <a:srgbClr val="334155"/>
                </a:solidFill>
                <a:highlight>
                  <a:srgbClr val="FFFF00"/>
                </a:highlight>
              </a:rPr>
              <a:t>成员签字</a:t>
            </a:r>
            <a:r>
              <a:rPr lang="en-US" sz="1100" dirty="0" err="1">
                <a:solidFill>
                  <a:srgbClr val="334155"/>
                </a:solidFill>
              </a:rPr>
              <a:t>（或群内公开承诺</a:t>
            </a:r>
            <a:r>
              <a:rPr lang="en-US" sz="1100" dirty="0">
                <a:solidFill>
                  <a:srgbClr val="334155"/>
                </a:solidFill>
              </a:rPr>
              <a:t>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📋 截止时间：5月16日 | 所有项目须获得≥1同伴+≥1老师的G1书面背书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七、项目执行、G2/G3验收与最终展示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743200" cy="640080"/>
          </a:xfrm>
          <a:prstGeom prst="rect">
            <a:avLst/>
          </a:prstGeom>
          <a:solidFill>
            <a:srgbClr val="00A896">
              <a:alpha val="8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G2提交与验证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截止6月10日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提交GitHub仓库链接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包含六件套 + </a:t>
            </a:r>
            <a:r>
              <a:rPr lang="en-US" sz="1000" dirty="0" err="1">
                <a:solidFill>
                  <a:srgbClr val="334155"/>
                </a:solidFill>
              </a:rPr>
              <a:t>跑通验证Skill</a:t>
            </a:r>
            <a:r>
              <a:rPr lang="zh-CN" altLang="en-US" sz="1000" dirty="0">
                <a:solidFill>
                  <a:srgbClr val="334155"/>
                </a:solidFill>
              </a:rPr>
              <a:t>及其视频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验证报告结果必须为APPROVE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否则不得进入G3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22960"/>
            <a:ext cx="2743200" cy="640080"/>
          </a:xfrm>
          <a:prstGeom prst="rect">
            <a:avLst/>
          </a:prstGeom>
          <a:solidFill>
            <a:srgbClr val="7C3AED">
              <a:alpha val="8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3383280" y="914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G3验收与定级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83280" y="1188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6月10-13日</a:t>
            </a:r>
            <a:endParaRPr lang="en-US" sz="1000" i="1" dirty="0">
              <a:solidFill>
                <a:schemeClr val="tx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验证人：G1背书老师 + 同伴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30分钟内复现核心结果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审查AI日志真实性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给出L1-L4定级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743200" cy="640080"/>
          </a:xfrm>
          <a:prstGeom prst="rect">
            <a:avLst/>
          </a:prstGeom>
          <a:solidFill>
            <a:srgbClr val="DC2626">
              <a:alpha val="8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309360" y="914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chemeClr val="tx2"/>
                </a:solidFill>
              </a:rPr>
              <a:t>班级成果展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1188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6月17日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</a:t>
            </a:r>
            <a:r>
              <a:rPr lang="zh-CN" altLang="en-US" sz="1000" dirty="0">
                <a:solidFill>
                  <a:srgbClr val="334155"/>
                </a:solidFill>
                <a:highlight>
                  <a:srgbClr val="FFFF00"/>
                </a:highlight>
              </a:rPr>
              <a:t>现场展示作品及相关证明材料</a:t>
            </a:r>
            <a:endParaRPr lang="zh-CN" altLang="en-US" sz="1000" dirty="0">
              <a:solidFill>
                <a:srgbClr val="334155"/>
              </a:solidFill>
              <a:highlight>
                <a:srgbClr val="FFFF00"/>
              </a:highlight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3分钟演示 + 2分钟问答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6060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评审团：</a:t>
            </a:r>
            <a:r>
              <a:rPr lang="en-US" sz="1000" dirty="0">
                <a:solidFill>
                  <a:srgbClr val="334155"/>
                </a:solidFill>
                <a:highlight>
                  <a:srgbClr val="FFFF00"/>
                </a:highlight>
                <a:sym typeface="+mn-ea"/>
              </a:rPr>
              <a:t>嘉宾</a:t>
            </a:r>
            <a:r>
              <a:rPr lang="zh-CN" altLang="en-US" sz="1000" dirty="0">
                <a:solidFill>
                  <a:srgbClr val="334155"/>
                </a:solidFill>
                <a:highlight>
                  <a:srgbClr val="FFFF00"/>
                </a:highlight>
                <a:sym typeface="+mn-ea"/>
              </a:rPr>
              <a:t>、</a:t>
            </a:r>
            <a:r>
              <a:rPr lang="en-US" sz="1000" dirty="0">
                <a:solidFill>
                  <a:srgbClr val="334155"/>
                </a:solidFill>
                <a:highlight>
                  <a:srgbClr val="FFFF00"/>
                </a:highlight>
              </a:rPr>
              <a:t>班主任</a:t>
            </a:r>
            <a:r>
              <a:rPr lang="en-US" sz="1000" dirty="0">
                <a:solidFill>
                  <a:srgbClr val="334155"/>
                </a:solidFill>
              </a:rPr>
              <a:t>、助教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1089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所有成果归档入个人作品集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📌 过程留痕：所有项目必须维护 AI_LOG.md，记录关键决策点的Prompt与思考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八、支持与保障机制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3571" y="111713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0731" y="12542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3651" y="12085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周三"加油站"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3651" y="15286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针对共性技术卡点或进度滞后项目，提供专家会诊或结对编程支持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2691" y="1103897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9851" y="12542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22771" y="12085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技术/资源紧急通道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22771" y="15286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项目遇重大技术瓶颈或人员变动，可向项目协同组申请急诊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5162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88878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84306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交叉参与协调员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6310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专门跟踪交叉参与同学的进度，避免角色冲突和过载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880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8346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诚信与预警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3154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对无进展、造假、违反红线项目，触发提醒-辅导-整改预警机制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02C39A">
              <a:alpha val="15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目标：确保每位同学都能顺利完成项目，达到L2及以上水平，6月17日路演见！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📢 给全班的行动指南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65760" y="8229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82296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1097280" y="82296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5月11日: 查看《真实项目池》，锁定你的首选、备选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65760" y="141732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141732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97280" y="141732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5月12日 24:00前: 填写《项目选择意向表》（腾讯文档）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365760" y="20116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201168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097280" y="201168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5月13日: 关注《初版分组名单》，确认组员和项目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365760" y="26060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4️⃣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260604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1097280" y="260604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</a:t>
            </a:r>
            <a:r>
              <a:rPr lang="en-US" sz="1300" b="1" dirty="0">
                <a:solidFill>
                  <a:srgbClr val="1E293B"/>
                </a:solidFill>
                <a:highlight>
                  <a:srgbClr val="FFFF00"/>
                </a:highlight>
              </a:rPr>
              <a:t>14</a:t>
            </a:r>
            <a:r>
              <a:rPr lang="en-US" sz="1300" b="1" dirty="0">
                <a:solidFill>
                  <a:srgbClr val="1E293B"/>
                </a:solidFill>
              </a:rPr>
              <a:t>日: 如需换组，在24小时窗口期内申请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365760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5️⃣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05840" y="320040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1097280" y="32004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strike="sngStrike" dirty="0">
                <a:solidFill>
                  <a:srgbClr val="1E293B"/>
                </a:solidFill>
                <a:highlight>
                  <a:srgbClr val="FFFF00"/>
                </a:highlight>
              </a:rPr>
              <a:t>5月14日: 最终名单锁定，组长进群 </a:t>
            </a:r>
            <a:r>
              <a:rPr lang="zh-CN" altLang="en-US" sz="1300" b="1" dirty="0">
                <a:solidFill>
                  <a:srgbClr val="1E293B"/>
                </a:solidFill>
                <a:highlight>
                  <a:srgbClr val="FFFF00"/>
                </a:highlight>
              </a:rPr>
              <a:t>不需要单独建群</a:t>
            </a:r>
            <a:r>
              <a:rPr lang="zh-CN" altLang="en-US" sz="1300" b="1" dirty="0">
                <a:solidFill>
                  <a:srgbClr val="1E293B"/>
                </a:solidFill>
                <a:highlight>
                  <a:srgbClr val="FFFF00"/>
                </a:highlight>
              </a:rPr>
              <a:t>了</a:t>
            </a:r>
            <a:endParaRPr lang="zh-CN" altLang="en-US" sz="1300" b="1" dirty="0">
              <a:solidFill>
                <a:srgbClr val="1E293B"/>
              </a:solidFill>
              <a:highlight>
                <a:srgbClr val="FFFF00"/>
              </a:highlight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6️⃣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05840" y="3794760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97280" y="379476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5月16日前: 提交G1提案，拿背书，开干！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9" name="Text 2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规则速记：每组3人内 | 角色覆盖开发+文档+测试 | 每人可负责1+参与1个项目 | 最终成果L2及以上，6月17日路演见！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C39A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认真选，踏实做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6月交出真作品！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286000" y="3246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维护者：项目协同组 | 最后更新：2026年5月9日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2434</Words>
  <Application>WPS 文字</Application>
  <PresentationFormat>全屏显示(16:9)</PresentationFormat>
  <Paragraphs>371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汉仪书宋二KW</vt:lpstr>
      <vt:lpstr>Arial Unicode MS</vt:lpstr>
      <vt:lpstr>等线</vt:lpstr>
      <vt:lpstr>汉仪中等线KW</vt:lpstr>
      <vt:lpstr>Noto Sans SC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AI+X实验班真实项目执行方案</dc:title>
  <dc:creator>AI+X实验班项目协同组</dc:creator>
  <dc:subject>PptxGenJS Presentation</dc:subject>
  <cp:lastModifiedBy>肖福军(2022500100)</cp:lastModifiedBy>
  <cp:revision>16</cp:revision>
  <dcterms:created xsi:type="dcterms:W3CDTF">2026-05-11T02:15:53Z</dcterms:created>
  <dcterms:modified xsi:type="dcterms:W3CDTF">2026-05-11T02:15:53Z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F64DB205A2F5891F0B36016AE63B2165_42</vt:lpwstr>
  </property>
  <property fmtid="{D5CDD505-2E9C-101B-9397-08002B2CF9AE}" pid="3" name="KSOProductBuildVer">
    <vt:lpwstr>2052-7.4.1.8983</vt:lpwstr>
  </property>
</Properties>
</file>